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4" r:id="rId4"/>
  </p:sldMasterIdLst>
  <p:notesMasterIdLst>
    <p:notesMasterId r:id="rId6"/>
  </p:notesMasterIdLst>
  <p:handoutMasterIdLst>
    <p:handoutMasterId r:id="rId7"/>
  </p:handoutMasterIdLst>
  <p:sldIdLst>
    <p:sldId id="37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B1E966-6961-0F50-8DB6-07965753986E}" name="Emily Zheng" initials="EZ" userId="S::emilyz@2a.consulting::f82caf59-4d99-4b56-845f-be5499779ccb" providerId="AD"/>
  <p188:author id="{E6E8B87A-35F3-49FE-E419-F5DEA76C1124}" name="Ashley Velazquez" initials="AV" userId="S::ashley@2a.consulting::27459dca-8b52-4cc1-803a-85614ebbc311" providerId="AD"/>
  <p188:author id="{495FC490-5893-5148-2CEE-DF14FA24C1F2}" name="Julianne Medenblik" initials="JM" userId="S::julianne@2a.consulting::ce83422f-0c59-4c8a-92c2-5f799f37350a" providerId="AD"/>
  <p188:author id="{B47D1797-3C58-93F2-7A13-61CB28D74573}" name="Olivia Witt" initials="OW" userId="S::Olivia@2a.consulting::b2c89e3c-57a0-4260-818b-d6c94110166d" providerId="AD"/>
  <p188:author id="{3B25209F-F647-DB31-479D-5D150D45701C}" name="Sarah Silva" initials="SS" userId="S::sarah@2a.consulting::c5438fce-4105-481a-92ae-1da751e199b6" providerId="AD"/>
  <p188:author id="{1A7C51AB-2E0C-E736-49D8-5D39035CDDB3}" name="Thad Allen" initials="TA" userId="S::Thad@2a.consulting::98f32c8c-fee0-4a69-a934-b7883cb118a7" providerId="AD"/>
  <p188:author id="{3BC929E5-C3D9-C54A-E1F4-976C3F59A026}" name="Michelle Francis" initials="MF" userId="Michelle Francis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1E2D"/>
    <a:srgbClr val="42B4FF"/>
    <a:srgbClr val="111724"/>
    <a:srgbClr val="FFBB45"/>
    <a:srgbClr val="EEE8EB"/>
    <a:srgbClr val="C20000"/>
    <a:srgbClr val="0F1520"/>
    <a:srgbClr val="0B1018"/>
    <a:srgbClr val="0C1019"/>
    <a:srgbClr val="1119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47"/>
    <p:restoredTop sz="85961"/>
  </p:normalViewPr>
  <p:slideViewPr>
    <p:cSldViewPr snapToGrid="0" showGuides="1">
      <p:cViewPr varScale="1">
        <p:scale>
          <a:sx n="103" d="100"/>
          <a:sy n="103" d="100"/>
        </p:scale>
        <p:origin x="1880" y="168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8" d="100"/>
        <a:sy n="98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09889A-270F-B6E5-3972-50E5E52472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028168-7E2B-F626-57B5-32EE17174C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264C6C-A75F-4F4B-983B-561CAC384A89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2EDBBA-8B98-DADA-0E7B-B3B8BA50DD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6926BD-6BEF-4459-AB9E-AA5FEF3EA6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48BA5-07AE-424D-88E6-9F6246581C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77697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CC8E03-5825-4C42-8DC2-B65F04B88FE7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F0C1F-993A-6847-8031-A71E46B1E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35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822C3-2A4F-9327-43CF-37F4ADBDC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7DB9DBB-63ED-8F54-7425-59C9C449A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85C73BA-19CC-8FFE-DAA0-F880788AC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342F32B-2074-C25C-62C9-C7FC31DDB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F0C1F-993A-6847-8031-A71E46B1E58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057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26313-2FA2-469F-957D-B5D4672A7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038" y="355015"/>
            <a:ext cx="11430001" cy="6381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 only layout</a:t>
            </a:r>
          </a:p>
        </p:txBody>
      </p:sp>
    </p:spTree>
    <p:extLst>
      <p:ext uri="{BB962C8B-B14F-4D97-AF65-F5344CB8AC3E}">
        <p14:creationId xmlns:p14="http://schemas.microsoft.com/office/powerpoint/2010/main" val="53024196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4DFFD08F-49D6-8825-ABAB-CF8590FC6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38" y="355015"/>
            <a:ext cx="11430001" cy="63817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BF5023C-9DDF-2272-283E-FA3171F1D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5038" y="1384288"/>
            <a:ext cx="11430001" cy="2154436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05311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3" r:id="rId1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tx1"/>
        </a:buClr>
        <a:buSzPct val="90000"/>
        <a:buFont typeface="Amazon Ember Display" panose="020F0603020204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3088" indent="-34448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tx1"/>
        </a:buClr>
        <a:buSzPct val="90000"/>
        <a:buFont typeface="Wingdings" panose="05000000000000000000" pitchFamily="2" charset="2"/>
        <a:buChar char="§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41350" indent="-4095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/>
        </a:buClr>
        <a:buFont typeface="Amazon Ember Display" panose="020F0603020204020204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/>
        </a:buClr>
        <a:buFont typeface="Amazon Ember Display" panose="020F0603020204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Amazon Ember Display" panose="020F0603020204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mazon Ember Display" panose="020F0603020204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mazon Ember Display" panose="020F0603020204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mazon Ember Display" panose="020F0603020204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mazon Ember Display" panose="020F0603020204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" userDrawn="1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pos="264" userDrawn="1">
          <p15:clr>
            <a:srgbClr val="F26B43"/>
          </p15:clr>
        </p15:guide>
        <p15:guide id="6" pos="7464" userDrawn="1">
          <p15:clr>
            <a:srgbClr val="F26B43"/>
          </p15:clr>
        </p15:guide>
        <p15:guide id="7" orient="horz" pos="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6F7BE-F3C0-5E6B-E523-BB742F580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20E19F-19AB-38A4-3207-F9EBCAEB8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SQL Converter Agent Architecture</a:t>
            </a:r>
            <a:endParaRPr kumimoji="1" lang="ja-JP" altLang="en-US"/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A6756C6A-E924-403D-C96D-923AF6BE0C3A}"/>
              </a:ext>
            </a:extLst>
          </p:cNvPr>
          <p:cNvGrpSpPr/>
          <p:nvPr/>
        </p:nvGrpSpPr>
        <p:grpSpPr>
          <a:xfrm>
            <a:off x="819478" y="1853514"/>
            <a:ext cx="10363386" cy="3661714"/>
            <a:chOff x="809365" y="2275228"/>
            <a:chExt cx="9132397" cy="3240000"/>
          </a:xfrm>
        </p:grpSpPr>
        <p:pic>
          <p:nvPicPr>
            <p:cNvPr id="9" name="Graphic 23" descr="A representation of a general resource icon.">
              <a:extLst>
                <a:ext uri="{FF2B5EF4-FFF2-40B4-BE49-F238E27FC236}">
                  <a16:creationId xmlns:a16="http://schemas.microsoft.com/office/drawing/2014/main" id="{3BEFAF75-B622-CF24-4446-AEA6EFC2E8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 bwMode="auto">
            <a:xfrm flipH="1">
              <a:off x="1144136" y="2655868"/>
              <a:ext cx="4699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Rectangle 39">
              <a:extLst>
                <a:ext uri="{FF2B5EF4-FFF2-40B4-BE49-F238E27FC236}">
                  <a16:creationId xmlns:a16="http://schemas.microsoft.com/office/drawing/2014/main" id="{474920EF-E862-D292-7533-A322FE45CBB4}"/>
                </a:ext>
              </a:extLst>
            </p:cNvPr>
            <p:cNvSpPr/>
            <p:nvPr/>
          </p:nvSpPr>
          <p:spPr>
            <a:xfrm>
              <a:off x="3641762" y="2275228"/>
              <a:ext cx="6300000" cy="3240000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5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データベースサーバ VPC</a:t>
              </a:r>
            </a:p>
          </p:txBody>
        </p:sp>
        <p:pic>
          <p:nvPicPr>
            <p:cNvPr id="34" name="Graphic 40" descr="VPC group icon. ">
              <a:extLst>
                <a:ext uri="{FF2B5EF4-FFF2-40B4-BE49-F238E27FC236}">
                  <a16:creationId xmlns:a16="http://schemas.microsoft.com/office/drawing/2014/main" id="{B98F45AB-FE28-918B-0127-5A35672D63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641764" y="2275231"/>
              <a:ext cx="381000" cy="381000"/>
            </a:xfrm>
            <a:prstGeom prst="rect">
              <a:avLst/>
            </a:prstGeom>
          </p:spPr>
        </p:pic>
        <p:sp>
          <p:nvSpPr>
            <p:cNvPr id="51" name="Rectangle 42">
              <a:extLst>
                <a:ext uri="{FF2B5EF4-FFF2-40B4-BE49-F238E27FC236}">
                  <a16:creationId xmlns:a16="http://schemas.microsoft.com/office/drawing/2014/main" id="{D98E2709-5B72-3A20-65AB-0D5ED9699975}"/>
                </a:ext>
              </a:extLst>
            </p:cNvPr>
            <p:cNvSpPr/>
            <p:nvPr/>
          </p:nvSpPr>
          <p:spPr>
            <a:xfrm>
              <a:off x="4022764" y="2752816"/>
              <a:ext cx="5368001" cy="2520000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2920" tIns="91440" bIns="4572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Private subnet</a:t>
              </a:r>
            </a:p>
          </p:txBody>
        </p:sp>
        <p:pic>
          <p:nvPicPr>
            <p:cNvPr id="52" name="Graphic 43" descr="Private subnet group icon. ">
              <a:extLst>
                <a:ext uri="{FF2B5EF4-FFF2-40B4-BE49-F238E27FC236}">
                  <a16:creationId xmlns:a16="http://schemas.microsoft.com/office/drawing/2014/main" id="{0FDDF2C1-24E6-2F63-6F96-72A8059E1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4027688" y="2752815"/>
              <a:ext cx="381000" cy="381000"/>
            </a:xfrm>
            <a:prstGeom prst="rect">
              <a:avLst/>
            </a:prstGeom>
          </p:spPr>
        </p:pic>
        <p:sp>
          <p:nvSpPr>
            <p:cNvPr id="59" name="Rectangle 59">
              <a:extLst>
                <a:ext uri="{FF2B5EF4-FFF2-40B4-BE49-F238E27FC236}">
                  <a16:creationId xmlns:a16="http://schemas.microsoft.com/office/drawing/2014/main" id="{0C71B32B-E04C-1835-CA77-EB4A9A98C908}"/>
                </a:ext>
              </a:extLst>
            </p:cNvPr>
            <p:cNvSpPr/>
            <p:nvPr/>
          </p:nvSpPr>
          <p:spPr>
            <a:xfrm>
              <a:off x="5072103" y="3244476"/>
              <a:ext cx="2880000" cy="1800000"/>
            </a:xfrm>
            <a:prstGeom prst="rect">
              <a:avLst/>
            </a:prstGeom>
            <a:noFill/>
            <a:ln w="15875">
              <a:solidFill>
                <a:srgbClr val="ED71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2920" tIns="91440"/>
            <a:lstStyle/>
            <a:p>
              <a:pPr>
                <a:defRPr/>
              </a:pPr>
              <a:r>
                <a:rPr lang="en-US" altLang="ja-JP" sz="105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EC2</a:t>
              </a:r>
            </a:p>
            <a:p>
              <a:pPr>
                <a:defRPr/>
              </a:pPr>
              <a:r>
                <a:rPr lang="en-US" altLang="ja-JP" sz="105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SQL Converter Agent </a:t>
              </a:r>
              <a:r>
                <a:rPr lang="ja-JP" altLang="en-US" sz="105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サーバ</a:t>
              </a:r>
              <a:endParaRPr lang="en-US" altLang="ja-JP" sz="105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0" name="Graphic 61439" descr="EC2 instance contents group icon. ">
              <a:extLst>
                <a:ext uri="{FF2B5EF4-FFF2-40B4-BE49-F238E27FC236}">
                  <a16:creationId xmlns:a16="http://schemas.microsoft.com/office/drawing/2014/main" id="{AC5F2091-080C-2631-31BA-58B8E9C917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5072107" y="3244481"/>
              <a:ext cx="381000" cy="381000"/>
            </a:xfrm>
            <a:prstGeom prst="rect">
              <a:avLst/>
            </a:prstGeom>
          </p:spPr>
        </p:pic>
        <p:pic>
          <p:nvPicPr>
            <p:cNvPr id="61" name="Graphic 7" descr="Amazon Aurora service icon.">
              <a:extLst>
                <a:ext uri="{FF2B5EF4-FFF2-40B4-BE49-F238E27FC236}">
                  <a16:creationId xmlns:a16="http://schemas.microsoft.com/office/drawing/2014/main" id="{A24A1DDC-2AAB-DC5A-01D9-927F9EA5FB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 bwMode="auto">
            <a:xfrm>
              <a:off x="8490765" y="3797091"/>
              <a:ext cx="432000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" name="TextBox 9">
              <a:extLst>
                <a:ext uri="{FF2B5EF4-FFF2-40B4-BE49-F238E27FC236}">
                  <a16:creationId xmlns:a16="http://schemas.microsoft.com/office/drawing/2014/main" id="{FB96533C-A33A-742D-7473-7C156DB473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95134" y="4238432"/>
              <a:ext cx="1414190" cy="367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05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Amazon Aurora</a:t>
              </a:r>
            </a:p>
            <a:p>
              <a:pPr algn="ctr" eaLnBrk="1" hangingPunct="1"/>
              <a:r>
                <a:rPr lang="en-US" altLang="en-US" sz="105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PostgreSQL</a:t>
              </a:r>
            </a:p>
          </p:txBody>
        </p:sp>
        <p:sp>
          <p:nvSpPr>
            <p:cNvPr id="66" name="角丸四角形 65">
              <a:extLst>
                <a:ext uri="{FF2B5EF4-FFF2-40B4-BE49-F238E27FC236}">
                  <a16:creationId xmlns:a16="http://schemas.microsoft.com/office/drawing/2014/main" id="{A8A0C8BF-BAA1-E314-6A68-380AEC5A28BE}"/>
                </a:ext>
              </a:extLst>
            </p:cNvPr>
            <p:cNvSpPr/>
            <p:nvPr/>
          </p:nvSpPr>
          <p:spPr>
            <a:xfrm>
              <a:off x="5170418" y="3811995"/>
              <a:ext cx="900000" cy="3960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100" dirty="0"/>
                <a:t>Skill</a:t>
              </a:r>
              <a:endParaRPr kumimoji="1" lang="ja-JP" altLang="en-US" sz="1100" dirty="0" err="1"/>
            </a:p>
          </p:txBody>
        </p:sp>
        <p:sp>
          <p:nvSpPr>
            <p:cNvPr id="67" name="角丸四角形 66">
              <a:extLst>
                <a:ext uri="{FF2B5EF4-FFF2-40B4-BE49-F238E27FC236}">
                  <a16:creationId xmlns:a16="http://schemas.microsoft.com/office/drawing/2014/main" id="{B884FDD3-9565-BFE6-FD06-6BFAD329ECFF}"/>
                </a:ext>
              </a:extLst>
            </p:cNvPr>
            <p:cNvSpPr/>
            <p:nvPr/>
          </p:nvSpPr>
          <p:spPr>
            <a:xfrm>
              <a:off x="5172640" y="4490734"/>
              <a:ext cx="900000" cy="3960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100" dirty="0"/>
                <a:t>Kiro CLI</a:t>
              </a:r>
              <a:endParaRPr kumimoji="1" lang="ja-JP" altLang="en-US" sz="1100" dirty="0" err="1"/>
            </a:p>
          </p:txBody>
        </p:sp>
        <p:sp>
          <p:nvSpPr>
            <p:cNvPr id="68" name="角丸四角形 67">
              <a:extLst>
                <a:ext uri="{FF2B5EF4-FFF2-40B4-BE49-F238E27FC236}">
                  <a16:creationId xmlns:a16="http://schemas.microsoft.com/office/drawing/2014/main" id="{39E0B328-1AF5-8D3B-15DF-4640FAFFE5EC}"/>
                </a:ext>
              </a:extLst>
            </p:cNvPr>
            <p:cNvSpPr/>
            <p:nvPr/>
          </p:nvSpPr>
          <p:spPr>
            <a:xfrm>
              <a:off x="6562452" y="3820943"/>
              <a:ext cx="252000" cy="10800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kumimoji="1" lang="en-US" altLang="ja-JP" sz="1100" dirty="0"/>
                <a:t>MCP Server</a:t>
              </a:r>
              <a:endParaRPr kumimoji="1" lang="ja-JP" altLang="en-US" sz="1100" dirty="0" err="1"/>
            </a:p>
          </p:txBody>
        </p:sp>
        <p:sp>
          <p:nvSpPr>
            <p:cNvPr id="70" name="円柱 69">
              <a:extLst>
                <a:ext uri="{FF2B5EF4-FFF2-40B4-BE49-F238E27FC236}">
                  <a16:creationId xmlns:a16="http://schemas.microsoft.com/office/drawing/2014/main" id="{057A7E8D-F7D2-D9A0-0D0C-78848D699BA9}"/>
                </a:ext>
              </a:extLst>
            </p:cNvPr>
            <p:cNvSpPr/>
            <p:nvPr/>
          </p:nvSpPr>
          <p:spPr>
            <a:xfrm>
              <a:off x="7277614" y="4334573"/>
              <a:ext cx="540000" cy="576000"/>
            </a:xfrm>
            <a:prstGeom prst="ca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000" dirty="0"/>
                <a:t>Oracle</a:t>
              </a:r>
            </a:p>
            <a:p>
              <a:pPr algn="ctr"/>
              <a:r>
                <a:rPr kumimoji="1" lang="en-US" altLang="ja-JP" sz="1000" dirty="0"/>
                <a:t>DB</a:t>
              </a:r>
              <a:endParaRPr kumimoji="1" lang="ja-JP" altLang="en-US" sz="1000" dirty="0" err="1"/>
            </a:p>
          </p:txBody>
        </p:sp>
        <p:cxnSp>
          <p:nvCxnSpPr>
            <p:cNvPr id="76" name="直線矢印コネクタ 75">
              <a:extLst>
                <a:ext uri="{FF2B5EF4-FFF2-40B4-BE49-F238E27FC236}">
                  <a16:creationId xmlns:a16="http://schemas.microsoft.com/office/drawing/2014/main" id="{1494CD6B-D975-600C-E667-FA68F91B111F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>
              <a:off x="1964621" y="4331927"/>
              <a:ext cx="675055" cy="0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矢印コネクタ 78">
              <a:extLst>
                <a:ext uri="{FF2B5EF4-FFF2-40B4-BE49-F238E27FC236}">
                  <a16:creationId xmlns:a16="http://schemas.microsoft.com/office/drawing/2014/main" id="{78321E9C-121B-886A-25CE-7D5154C0C2DC}"/>
                </a:ext>
              </a:extLst>
            </p:cNvPr>
            <p:cNvCxnSpPr>
              <a:cxnSpLocks/>
              <a:stCxn id="66" idx="2"/>
              <a:endCxn id="67" idx="0"/>
            </p:cNvCxnSpPr>
            <p:nvPr/>
          </p:nvCxnSpPr>
          <p:spPr>
            <a:xfrm>
              <a:off x="5620418" y="4207996"/>
              <a:ext cx="2222" cy="282738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矢印コネクタ 81">
              <a:extLst>
                <a:ext uri="{FF2B5EF4-FFF2-40B4-BE49-F238E27FC236}">
                  <a16:creationId xmlns:a16="http://schemas.microsoft.com/office/drawing/2014/main" id="{5D9930D2-04BE-1E36-3CC4-A7890FC10B0F}"/>
                </a:ext>
              </a:extLst>
            </p:cNvPr>
            <p:cNvCxnSpPr>
              <a:cxnSpLocks/>
            </p:cNvCxnSpPr>
            <p:nvPr/>
          </p:nvCxnSpPr>
          <p:spPr>
            <a:xfrm>
              <a:off x="6092518" y="4688734"/>
              <a:ext cx="468000" cy="0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矢印コネクタ 85">
              <a:extLst>
                <a:ext uri="{FF2B5EF4-FFF2-40B4-BE49-F238E27FC236}">
                  <a16:creationId xmlns:a16="http://schemas.microsoft.com/office/drawing/2014/main" id="{BB009A0A-CA29-3898-080B-F67A5ADEC5A2}"/>
                </a:ext>
              </a:extLst>
            </p:cNvPr>
            <p:cNvCxnSpPr>
              <a:cxnSpLocks/>
            </p:cNvCxnSpPr>
            <p:nvPr/>
          </p:nvCxnSpPr>
          <p:spPr>
            <a:xfrm>
              <a:off x="6814452" y="3993213"/>
              <a:ext cx="1658151" cy="0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矢印コネクタ 92">
              <a:extLst>
                <a:ext uri="{FF2B5EF4-FFF2-40B4-BE49-F238E27FC236}">
                  <a16:creationId xmlns:a16="http://schemas.microsoft.com/office/drawing/2014/main" id="{D4BACEBA-2616-F53B-27F9-3E09E213DD44}"/>
                </a:ext>
              </a:extLst>
            </p:cNvPr>
            <p:cNvCxnSpPr>
              <a:cxnSpLocks/>
            </p:cNvCxnSpPr>
            <p:nvPr/>
          </p:nvCxnSpPr>
          <p:spPr>
            <a:xfrm>
              <a:off x="6827853" y="4689510"/>
              <a:ext cx="468000" cy="0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30">
              <a:extLst>
                <a:ext uri="{FF2B5EF4-FFF2-40B4-BE49-F238E27FC236}">
                  <a16:creationId xmlns:a16="http://schemas.microsoft.com/office/drawing/2014/main" id="{F942525D-4F4E-0C6C-54F5-28689639BA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9365" y="3125768"/>
              <a:ext cx="1135585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050" dirty="0">
                  <a:latin typeface="Arial" panose="020B0604020202020204" pitchFamily="34" charset="0"/>
                  <a:cs typeface="Arial" panose="020B0604020202020204" pitchFamily="34" charset="0"/>
                </a:rPr>
                <a:t>ユーザ</a:t>
              </a:r>
            </a:p>
          </p:txBody>
        </p:sp>
        <p:pic>
          <p:nvPicPr>
            <p:cNvPr id="4" name="Graphic 6" descr="Endpoint resource icon for the Amazon API Gateway service.">
              <a:extLst>
                <a:ext uri="{FF2B5EF4-FFF2-40B4-BE49-F238E27FC236}">
                  <a16:creationId xmlns:a16="http://schemas.microsoft.com/office/drawing/2014/main" id="{C1A8859B-82F8-F76E-D109-DE287A32E1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2639676" y="4103327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Box 16">
              <a:extLst>
                <a:ext uri="{FF2B5EF4-FFF2-40B4-BE49-F238E27FC236}">
                  <a16:creationId xmlns:a16="http://schemas.microsoft.com/office/drawing/2014/main" id="{8D876428-C144-EEF0-D77F-972B299101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4375" y="4539996"/>
              <a:ext cx="146872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EC2 Instance Connect Endpoint</a:t>
              </a:r>
            </a:p>
          </p:txBody>
        </p:sp>
        <p:pic>
          <p:nvPicPr>
            <p:cNvPr id="6" name="Graphic 31" descr="Elastic network interface resource icon for the Amazon VPC service.&#10;">
              <a:extLst>
                <a:ext uri="{FF2B5EF4-FFF2-40B4-BE49-F238E27FC236}">
                  <a16:creationId xmlns:a16="http://schemas.microsoft.com/office/drawing/2014/main" id="{0E9D5816-5E4C-9C02-1968-4A73F55F1D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321335" y="4092176"/>
              <a:ext cx="457200" cy="457200"/>
            </a:xfrm>
            <a:prstGeom prst="rect">
              <a:avLst/>
            </a:prstGeom>
          </p:spPr>
        </p:pic>
        <p:sp>
          <p:nvSpPr>
            <p:cNvPr id="7" name="TextBox 18">
              <a:extLst>
                <a:ext uri="{FF2B5EF4-FFF2-40B4-BE49-F238E27FC236}">
                  <a16:creationId xmlns:a16="http://schemas.microsoft.com/office/drawing/2014/main" id="{048344A8-5C99-9C36-7FF1-8516FD823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509" y="4534028"/>
              <a:ext cx="1342852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Elastic network interface</a:t>
              </a:r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B8E0C7D4-5407-E31D-D715-EB067CE56438}"/>
                </a:ext>
              </a:extLst>
            </p:cNvPr>
            <p:cNvCxnSpPr>
              <a:cxnSpLocks/>
            </p:cNvCxnSpPr>
            <p:nvPr/>
          </p:nvCxnSpPr>
          <p:spPr>
            <a:xfrm>
              <a:off x="3085943" y="4307144"/>
              <a:ext cx="1190017" cy="8549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FB8AD1DC-A54B-34A6-AC9F-4B78F8090165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V="1">
              <a:off x="4778535" y="4315693"/>
              <a:ext cx="293568" cy="5083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21">
              <a:extLst>
                <a:ext uri="{FF2B5EF4-FFF2-40B4-BE49-F238E27FC236}">
                  <a16:creationId xmlns:a16="http://schemas.microsoft.com/office/drawing/2014/main" id="{EB29CED0-644D-ECAB-939A-97F5C02531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0399" y="3469663"/>
              <a:ext cx="1081872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ts val="600"/>
                </a:spcBef>
              </a:pPr>
              <a:r>
                <a:rPr lang="en-US" altLang="en-US" sz="1050" dirty="0">
                  <a:latin typeface="Meiryo" panose="020B0604030504040204" pitchFamily="34" charset="-128"/>
                  <a:ea typeface="Meiryo" panose="020B0604030504040204" pitchFamily="34" charset="-128"/>
                  <a:cs typeface="Arial" panose="020B0604020202020204" pitchFamily="34" charset="0"/>
                </a:rPr>
                <a:t>DMS SC</a:t>
              </a:r>
            </a:p>
          </p:txBody>
        </p:sp>
        <p:pic>
          <p:nvPicPr>
            <p:cNvPr id="11" name="Graphic 18" descr="AWS Database Migration Service (AWS DMS) service icon.">
              <a:extLst>
                <a:ext uri="{FF2B5EF4-FFF2-40B4-BE49-F238E27FC236}">
                  <a16:creationId xmlns:a16="http://schemas.microsoft.com/office/drawing/2014/main" id="{69A71E23-4421-B1C7-A239-E56A87F5D5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8483039" y="2991670"/>
              <a:ext cx="458713" cy="45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59">
              <a:extLst>
                <a:ext uri="{FF2B5EF4-FFF2-40B4-BE49-F238E27FC236}">
                  <a16:creationId xmlns:a16="http://schemas.microsoft.com/office/drawing/2014/main" id="{125F599A-2E24-02E5-96EC-606EEA86A1C9}"/>
                </a:ext>
              </a:extLst>
            </p:cNvPr>
            <p:cNvSpPr/>
            <p:nvPr/>
          </p:nvSpPr>
          <p:spPr>
            <a:xfrm>
              <a:off x="1144136" y="4152726"/>
              <a:ext cx="518071" cy="381302"/>
            </a:xfrm>
            <a:prstGeom prst="rect">
              <a:avLst/>
            </a:prstGeom>
            <a:noFill/>
            <a:ln w="15875">
              <a:solidFill>
                <a:srgbClr val="ED71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2920" tIns="91440"/>
            <a:lstStyle/>
            <a:p>
              <a:pPr>
                <a:defRPr/>
              </a:pPr>
              <a:endParaRPr lang="en-US" altLang="ja-JP" sz="105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88171C51-380F-2AAA-E259-701514B5E16B}"/>
                </a:ext>
              </a:extLst>
            </p:cNvPr>
            <p:cNvSpPr txBox="1"/>
            <p:nvPr/>
          </p:nvSpPr>
          <p:spPr>
            <a:xfrm>
              <a:off x="829311" y="4688391"/>
              <a:ext cx="1135725" cy="367646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050" b="0" i="0" u="none" strike="noStrike" kern="1200" cap="none" spc="0" normalizeH="0" baseline="0" noProof="0">
                  <a:ln w="0"/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/>
                  <a:cs typeface="Arial" panose="020B0604020202020204" pitchFamily="34" charset="0"/>
                </a:rPr>
                <a:t>実行環境</a:t>
              </a:r>
              <a:endParaRPr kumimoji="0" lang="en-US" altLang="ja-JP" sz="1050" b="0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メイリオ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ja-JP" altLang="en-US" sz="1050">
                  <a:ln w="0"/>
                  <a:solidFill>
                    <a:srgbClr val="FFFFFF"/>
                  </a:solidFill>
                  <a:latin typeface="Arial" panose="020B0604020202020204" pitchFamily="34" charset="0"/>
                  <a:ea typeface="メイリオ"/>
                  <a:cs typeface="Arial" panose="020B0604020202020204" pitchFamily="34" charset="0"/>
                </a:rPr>
                <a:t>（</a:t>
              </a:r>
              <a:r>
                <a:rPr lang="en-US" altLang="ja-JP" sz="1050" dirty="0">
                  <a:ln w="0"/>
                  <a:solidFill>
                    <a:srgbClr val="FFFFFF"/>
                  </a:solidFill>
                  <a:latin typeface="Arial" panose="020B0604020202020204" pitchFamily="34" charset="0"/>
                  <a:ea typeface="メイリオ"/>
                  <a:cs typeface="Arial" panose="020B0604020202020204" pitchFamily="34" charset="0"/>
                </a:rPr>
                <a:t>deploy.sh </a:t>
              </a:r>
              <a:r>
                <a:rPr lang="ja-JP" altLang="en-US" sz="1050">
                  <a:ln w="0"/>
                  <a:solidFill>
                    <a:srgbClr val="FFFFFF"/>
                  </a:solidFill>
                  <a:latin typeface="Arial" panose="020B0604020202020204" pitchFamily="34" charset="0"/>
                  <a:ea typeface="メイリオ"/>
                  <a:cs typeface="Arial" panose="020B0604020202020204" pitchFamily="34" charset="0"/>
                </a:rPr>
                <a:t>を実行）</a:t>
              </a:r>
              <a:endParaRPr kumimoji="0" lang="en-US" altLang="ja-JP" sz="1050" b="0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メイリオ"/>
                <a:cs typeface="Arial" panose="020B0604020202020204" pitchFamily="34" charset="0"/>
              </a:endParaRPr>
            </a:p>
          </p:txBody>
        </p: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C4D24FED-EDB4-7225-6914-4D0B195B07F3}"/>
                </a:ext>
              </a:extLst>
            </p:cNvPr>
            <p:cNvCxnSpPr>
              <a:cxnSpLocks/>
            </p:cNvCxnSpPr>
            <p:nvPr/>
          </p:nvCxnSpPr>
          <p:spPr>
            <a:xfrm>
              <a:off x="1397174" y="3494817"/>
              <a:ext cx="0" cy="523972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2248720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AWS Brand Template_Dark">
  <a:themeElements>
    <a:clrScheme name="AWS Template">
      <a:dk1>
        <a:srgbClr val="161E2D"/>
      </a:dk1>
      <a:lt1>
        <a:srgbClr val="FFFFFF"/>
      </a:lt1>
      <a:dk2>
        <a:srgbClr val="00193D"/>
      </a:dk2>
      <a:lt2>
        <a:srgbClr val="F5F7FF"/>
      </a:lt2>
      <a:accent1>
        <a:srgbClr val="0073E5"/>
      </a:accent1>
      <a:accent2>
        <a:srgbClr val="FF6A3D"/>
      </a:accent2>
      <a:accent3>
        <a:srgbClr val="5900B2"/>
      </a:accent3>
      <a:accent4>
        <a:srgbClr val="001A99"/>
      </a:accent4>
      <a:accent5>
        <a:srgbClr val="C300E0"/>
      </a:accent5>
      <a:accent6>
        <a:srgbClr val="00E500"/>
      </a:accent6>
      <a:hlink>
        <a:srgbClr val="42B4FF"/>
      </a:hlink>
      <a:folHlink>
        <a:srgbClr val="B2A8FF"/>
      </a:folHlink>
    </a:clrScheme>
    <a:fontScheme name="ユーザー定義 2">
      <a:majorFont>
        <a:latin typeface="Amazon Ember Display"/>
        <a:ea typeface="メイリオ"/>
        <a:cs typeface=""/>
      </a:majorFont>
      <a:minorFont>
        <a:latin typeface="Amazon Ember Display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ctr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10B1A1AB-66E2-4EB3-B743-8516223C8CA5}" vid="{207657F2-C1D5-4C9A-A624-35CD9B124E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858525f-8556-4a49-8c5b-46c9ac02e9a8">
      <Terms xmlns="http://schemas.microsoft.com/office/infopath/2007/PartnerControls"/>
    </lcf76f155ced4ddcb4097134ff3c332f>
    <TaxCatchAll xmlns="c15da466-223d-4a9a-9a5d-eb2bee72a60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92946DCD6EF84A8AD3B83D0B57F8EB" ma:contentTypeVersion="17" ma:contentTypeDescription="Create a new document." ma:contentTypeScope="" ma:versionID="b42be05bc74378c37795d3f925fb4a01">
  <xsd:schema xmlns:xsd="http://www.w3.org/2001/XMLSchema" xmlns:xs="http://www.w3.org/2001/XMLSchema" xmlns:p="http://schemas.microsoft.com/office/2006/metadata/properties" xmlns:ns2="5858525f-8556-4a49-8c5b-46c9ac02e9a8" xmlns:ns3="c15da466-223d-4a9a-9a5d-eb2bee72a60a" targetNamespace="http://schemas.microsoft.com/office/2006/metadata/properties" ma:root="true" ma:fieldsID="6370dd56b8fb32e5b01a7594ec1f1abe" ns2:_="" ns3:_="">
    <xsd:import namespace="5858525f-8556-4a49-8c5b-46c9ac02e9a8"/>
    <xsd:import namespace="c15da466-223d-4a9a-9a5d-eb2bee72a6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58525f-8556-4a49-8c5b-46c9ac02e9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5f7a6da-46ba-41bd-8ba0-cc4b0a852eb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5da466-223d-4a9a-9a5d-eb2bee72a60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571200c-446a-409a-b41b-83406df47733}" ma:internalName="TaxCatchAll" ma:showField="CatchAllData" ma:web="c15da466-223d-4a9a-9a5d-eb2bee72a6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7F2428-6C02-4D32-B14D-EBC3389A58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8EE619-C8F3-4123-BB4D-06897928292C}">
  <ds:schemaRefs>
    <ds:schemaRef ds:uri="http://www.w3.org/XML/1998/namespace"/>
    <ds:schemaRef ds:uri="http://schemas.microsoft.com/office/2006/documentManagement/types"/>
    <ds:schemaRef ds:uri="c15da466-223d-4a9a-9a5d-eb2bee72a60a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5858525f-8556-4a49-8c5b-46c9ac02e9a8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79A09CB-99D1-4CE1-93AE-964D83FB2A11}">
  <ds:schemaRefs>
    <ds:schemaRef ds:uri="5858525f-8556-4a49-8c5b-46c9ac02e9a8"/>
    <ds:schemaRef ds:uri="c15da466-223d-4a9a-9a5d-eb2bee72a6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26789</TotalTime>
  <Words>51</Words>
  <Application>Microsoft Macintosh PowerPoint</Application>
  <PresentationFormat>ワイド画面</PresentationFormat>
  <Paragraphs>19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Meiryo</vt:lpstr>
      <vt:lpstr>Amazon Ember Display</vt:lpstr>
      <vt:lpstr>Arial</vt:lpstr>
      <vt:lpstr>Calibri</vt:lpstr>
      <vt:lpstr>Wingdings</vt:lpstr>
      <vt:lpstr>1_AWS Brand Template_Dark</vt:lpstr>
      <vt:lpstr>SQL Converter Agent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Journey</dc:title>
  <dc:creator>Thad Allen</dc:creator>
  <cp:lastModifiedBy>Nagakubo, Takeshi</cp:lastModifiedBy>
  <cp:revision>137</cp:revision>
  <dcterms:created xsi:type="dcterms:W3CDTF">2023-07-18T17:07:11Z</dcterms:created>
  <dcterms:modified xsi:type="dcterms:W3CDTF">2026-10-29T03:55:28Z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0x0101002892946DCD6EF84A8AD3B83D0B57F8EB</vt:lpwstr>
  </property>
  <property fmtid="{D5CDD505-2E9C-101B-9397-08002B2CF9AE}" pid="3" name="MediaServiceImageTags">
    <vt:lpwstr/>
  </property>
  <property fmtid="{D5CDD505-2E9C-101B-9397-08002B2CF9AE}" pid="4" name="MSIP_Label_19e68092-05df-4271-8e3e-b2a4c82ba797_Enabled">
    <vt:lpwstr>true</vt:lpwstr>
  </property>
  <property fmtid="{D5CDD505-2E9C-101B-9397-08002B2CF9AE}" pid="5" name="MSIP_Label_19e68092-05df-4271-8e3e-b2a4c82ba797_SetDate">
    <vt:lpwstr>2025-08-12T01:53:50Z</vt:lpwstr>
  </property>
  <property fmtid="{D5CDD505-2E9C-101B-9397-08002B2CF9AE}" pid="6" name="MSIP_Label_19e68092-05df-4271-8e3e-b2a4c82ba797_Method">
    <vt:lpwstr>Standard</vt:lpwstr>
  </property>
  <property fmtid="{D5CDD505-2E9C-101B-9397-08002B2CF9AE}" pid="7" name="MSIP_Label_19e68092-05df-4271-8e3e-b2a4c82ba797_Name">
    <vt:lpwstr>Amazon Confidential</vt:lpwstr>
  </property>
  <property fmtid="{D5CDD505-2E9C-101B-9397-08002B2CF9AE}" pid="8" name="MSIP_Label_19e68092-05df-4271-8e3e-b2a4c82ba797_SiteId">
    <vt:lpwstr>5280104a-472d-4538-9ccf-1e1d0efe8b1b</vt:lpwstr>
  </property>
  <property fmtid="{D5CDD505-2E9C-101B-9397-08002B2CF9AE}" pid="9" name="MSIP_Label_19e68092-05df-4271-8e3e-b2a4c82ba797_ActionId">
    <vt:lpwstr>58e3f2e9-1cc0-4828-8e46-0d9edc5982bc</vt:lpwstr>
  </property>
  <property fmtid="{D5CDD505-2E9C-101B-9397-08002B2CF9AE}" pid="10" name="MSIP_Label_19e68092-05df-4271-8e3e-b2a4c82ba797_ContentBits">
    <vt:lpwstr>0</vt:lpwstr>
  </property>
  <property fmtid="{D5CDD505-2E9C-101B-9397-08002B2CF9AE}" pid="11" name="MSIP_Label_19e68092-05df-4271-8e3e-b2a4c82ba797_Tag">
    <vt:lpwstr>10, 3, 0, 1</vt:lpwstr>
  </property>
</Properties>
</file>